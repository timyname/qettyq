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90961e23904316" /><Relationship Type="http://schemas.openxmlformats.org/officeDocument/2006/relationships/extended-properties" Target="/docProps/app.xml" Id="R1b48ec9c1e634262" /><Relationship Type="http://schemas.openxmlformats.org/officeDocument/2006/relationships/officeDocument" Target="/ppt/presentation.xml" Id="Rd97c0885c5764b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abf4aa48e14d6b"/>
  </p:sldMasterIdLst>
  <p:notesMasterIdLst>
    <p:notesMasterId xmlns:r="http://schemas.openxmlformats.org/officeDocument/2006/relationships" r:id="R3c92a63358214e5f"/>
  </p:notesMasterIdLst>
  <p:sldIdLst>
    <p:sldId xmlns:r="http://schemas.openxmlformats.org/officeDocument/2006/relationships" id="256" r:id="Re59a02ea6eed4078"/>
    <p:sldId xmlns:r="http://schemas.openxmlformats.org/officeDocument/2006/relationships" id="257" r:id="R74725e02b2cb4c2b"/>
    <p:sldId xmlns:r="http://schemas.openxmlformats.org/officeDocument/2006/relationships" id="258" r:id="R1ffb6436a7bc4088"/>
    <p:sldId xmlns:r="http://schemas.openxmlformats.org/officeDocument/2006/relationships" id="259" r:id="Rfc38f48176da4e0d"/>
    <p:sldId xmlns:r="http://schemas.openxmlformats.org/officeDocument/2006/relationships" id="260" r:id="R0d449b831140442a"/>
    <p:sldId xmlns:r="http://schemas.openxmlformats.org/officeDocument/2006/relationships" id="261" r:id="Rb7b15796cd8246fe"/>
    <p:sldId xmlns:r="http://schemas.openxmlformats.org/officeDocument/2006/relationships" id="262" r:id="R50b7f91de2004723"/>
    <p:sldId xmlns:r="http://schemas.openxmlformats.org/officeDocument/2006/relationships" id="263" r:id="R88b7b70f6446479d"/>
    <p:sldId xmlns:r="http://schemas.openxmlformats.org/officeDocument/2006/relationships" id="264" r:id="R67c63d13a85541a3"/>
    <p:sldId xmlns:r="http://schemas.openxmlformats.org/officeDocument/2006/relationships" id="265" r:id="Rfa5a5b4228774b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f6a094a38c4d5b" /><Relationship Type="http://schemas.openxmlformats.org/officeDocument/2006/relationships/slideMaster" Target="/ppt/slideMasters/slideMaster1.xml" Id="R90abf4aa48e14d6b" /><Relationship Type="http://schemas.openxmlformats.org/officeDocument/2006/relationships/notesMaster" Target="/ppt/notesMasters/notesMaster1.xml" Id="R3c92a63358214e5f" /><Relationship Type="http://schemas.openxmlformats.org/officeDocument/2006/relationships/presProps" Target="/ppt/presProps.xml" Id="Rbd8c5e320ce84a35" /><Relationship Type="http://schemas.openxmlformats.org/officeDocument/2006/relationships/tableStyles" Target="/ppt/tableStyles.xml" Id="R7d41c66b80394985" /><Relationship Type="http://schemas.openxmlformats.org/officeDocument/2006/relationships/slide" Target="/ppt/slides/slide1.xml" Id="Re59a02ea6eed4078" /><Relationship Type="http://schemas.openxmlformats.org/officeDocument/2006/relationships/slide" Target="/ppt/slides/slide2.xml" Id="R74725e02b2cb4c2b" /><Relationship Type="http://schemas.openxmlformats.org/officeDocument/2006/relationships/slide" Target="/ppt/slides/slide3.xml" Id="R1ffb6436a7bc4088" /><Relationship Type="http://schemas.openxmlformats.org/officeDocument/2006/relationships/slide" Target="/ppt/slides/slide4.xml" Id="Rfc38f48176da4e0d" /><Relationship Type="http://schemas.openxmlformats.org/officeDocument/2006/relationships/slide" Target="/ppt/slides/slide5.xml" Id="R0d449b831140442a" /><Relationship Type="http://schemas.openxmlformats.org/officeDocument/2006/relationships/slide" Target="/ppt/slides/slide6.xml" Id="Rb7b15796cd8246fe" /><Relationship Type="http://schemas.openxmlformats.org/officeDocument/2006/relationships/slide" Target="/ppt/slides/slide7.xml" Id="R50b7f91de2004723" /><Relationship Type="http://schemas.openxmlformats.org/officeDocument/2006/relationships/slide" Target="/ppt/slides/slide8.xml" Id="R88b7b70f6446479d" /><Relationship Type="http://schemas.openxmlformats.org/officeDocument/2006/relationships/slide" Target="/ppt/slides/slide9.xml" Id="R67c63d13a85541a3" /><Relationship Type="http://schemas.openxmlformats.org/officeDocument/2006/relationships/slide" Target="/ppt/slides/slide10.xml" Id="Rfa5a5b4228774b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d37c81b8e245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1d21f29a6d4e61" /><Relationship Type="http://schemas.openxmlformats.org/officeDocument/2006/relationships/notesMaster" Target="/ppt/notesMasters/notesMaster1.xml" Id="R22983a28b83840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d4b8362f8b4177" /><Relationship Type="http://schemas.openxmlformats.org/officeDocument/2006/relationships/notesMaster" Target="/ppt/notesMasters/notesMaster1.xml" Id="R190e4e74f13f46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7636bba93941e5" /><Relationship Type="http://schemas.openxmlformats.org/officeDocument/2006/relationships/notesMaster" Target="/ppt/notesMasters/notesMaster1.xml" Id="Rc4ec87d7d7f74c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8a74e4e58246aa" /><Relationship Type="http://schemas.openxmlformats.org/officeDocument/2006/relationships/notesMaster" Target="/ppt/notesMasters/notesMaster1.xml" Id="R1e723af15b4b4f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0e4a77e1284f40" /><Relationship Type="http://schemas.openxmlformats.org/officeDocument/2006/relationships/notesMaster" Target="/ppt/notesMasters/notesMaster1.xml" Id="R680eb87d74ac4d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32410b56d647bb" /><Relationship Type="http://schemas.openxmlformats.org/officeDocument/2006/relationships/notesMaster" Target="/ppt/notesMasters/notesMaster1.xml" Id="R6b09c83983864e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56b50cf36e4723" /><Relationship Type="http://schemas.openxmlformats.org/officeDocument/2006/relationships/notesMaster" Target="/ppt/notesMasters/notesMaster1.xml" Id="Rf76be9a2b0844b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9631d3fb094c81" /><Relationship Type="http://schemas.openxmlformats.org/officeDocument/2006/relationships/notesMaster" Target="/ppt/notesMasters/notesMaster1.xml" Id="R95c7ff594f8a42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31bc418ebe4882" /><Relationship Type="http://schemas.openxmlformats.org/officeDocument/2006/relationships/notesMaster" Target="/ppt/notesMasters/notesMaster1.xml" Id="Reb9df294ef724f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d10d4dcee449a9" /><Relationship Type="http://schemas.openxmlformats.org/officeDocument/2006/relationships/notesMaster" Target="/ppt/notesMasters/notesMaster1.xml" Id="Rbd8df6c3191c4d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QETTYQ помогает выбрать, чем заняться в свободное время. Мы начинаем с Астаны. Человек отмечает свои интересы, задаёт время и бюджет, затем получает несколько подходящих вариантов. Презентация показывает новый интерактивный дизайн и отдельно обозначает состояние программного прототипа. Мы не называем все нарисованные функции готовым сервисом.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статус:</a:t>
            </a:r>
          </a:p>
          <a:p xmlns:a="http://schemas.openxmlformats.org/drawingml/2006/main">
            <a:r>
              <a:t>PRD.md, разделы 2, 3 и 17. Название и контакты предоставил владелец.</a:t>
            </a:r>
          </a:p>
          <a:p xmlns:a="http://schemas.openxmlformats.org/drawingml/2006/main">
            <a:r>
              <a:t>presentation/assets/astana-modern-nomad.png: существующая сгенерированная художественная иллюстрация, не документальная фотография.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Человеку приходится отдельно смотреть афишу, искать адрес и прикидывать, сколько займёт поездка. Мы связываем эти действия в одном интерфейсе. Есть два равноправных пути. Можно доверить подбор сервису или самому выбрать точку на карте. Любителю рок-концертов не стоит по умолчанию предлагать балет первым вариантом. Но остальные категории остаются доступными. Предпочтения меняют порядок выдачи, а не закрывают город.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статус:</a:t>
            </a:r>
          </a:p>
          <a:p xmlns:a="http://schemas.openxmlformats.org/drawingml/2006/main">
            <a:r>
              <a:t>Комментарии владельца к PDF v4: 3, 4, 5. Это продуктовая гипотеза, а не результат исследования пользователей.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Первый контакт нужен, чтобы понять вкус человека. Пользователь листает пятнадцать идей досуга. Крупная карточка занимает почти весь экран, а подпись появляется во время свайпа. Не сейчас не означает никогда. Последний выбор можно отменить, а настройку интересов можно пропустить. Затем человек указывает время и бюджет. Геопозицию запрашиваем только после объяснения, зачем она нужна. Без разрешения остаётся ручная точка. Две минуты являются целевым временем настройки, но мы пока не выдаём их за измеренную метрику.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статус:</a:t>
            </a:r>
          </a:p>
          <a:p xmlns:a="http://schemas.openxmlformats.org/drawingml/2006/main">
            <a:r>
              <a:t>Нативные макеты Penpot 05 и 08 от 20.10.2026. Это дизайн, а не запись работающего браузерного жеста.</a:t>
            </a:r>
          </a:p>
          <a:p xmlns:a="http://schemas.openxmlformats.org/drawingml/2006/main">
            <a:r>
              <a:t>15 изображений: существующие художественные иллюстрации категорий.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настройки открывается лента Для тебя. Пользователь видит до трёх вариантов, которые соответствуют заданному контексту. Для каждого мы объясняем, какие интересы совпали и какие условия нужно уточнить. В новом дизайне карточки перелистываются в обе стороны, а нижняя навигация остаётся одинаковой: Для тебя, Поиск, Карта, Профиль. Пример на экране показывает реальное место из каталога, но иллюстрация категории не является фотографией этой площадки. Расписание и стоимость спектакля не подтверждены.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статус:</a:t>
            </a:r>
          </a:p>
          <a:p xmlns:a="http://schemas.openxmlformats.org/drawingml/2006/main">
            <a:r>
              <a:t>design/penpot/previews/14.png. Интерактивный дизайн.</a:t>
            </a:r>
          </a:p>
          <a:p xmlns:a="http://schemas.openxmlformats.org/drawingml/2006/main">
            <a:r>
              <a:t>Место: театр им. М. Горького, существующий snapshot OpenStreetMap от 19.10.2026. © OpenStreetMap contributors, ODbL.</a:t>
            </a:r>
          </a:p>
          <a:p xmlns:a="http://schemas.openxmlformats.org/drawingml/2006/main">
            <a:r>
              <a:t>https://www.openstreetmap.org/copyright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Карта помогает сравнить варианты относительно выбранной точки. После выбора мероприятия план должен учитывать время дороги, длительность посещения и запас. Если указана конечная точка, учитываем и дорогу до неё. Для навигации человек сможет перейти во внешнее картографическое приложение. Сейчас на слайде условная схема Penpot, а не Google Maps и не дорожная геометрия. В программном прототипе есть приблизительная оценка по координатам. Точную линию по улицам и ETA можно обещать только после проверки маршрутизатора.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статус:</a:t>
            </a:r>
          </a:p>
          <a:p xmlns:a="http://schemas.openxmlformats.org/drawingml/2006/main">
            <a:r>
              <a:t>design/penpot/previews/16.png и 24.png. Схемы прототипа.</a:t>
            </a:r>
          </a:p>
          <a:p xmlns:a="http://schemas.openxmlformats.org/drawingml/2006/main">
            <a:r>
              <a:t>PRD.md, раздел 8: расчёты выполняет код, неизвестная цена не равна нулю.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Поиске можно написать обычным языком: хочу в театр, есть два часа и до пяти тысяч тенге. Помощник сначала извлекает условия. Пользователь должен иметь возможность их исправить. Во время поиска показываем понятные этапы: поиск мест и проверка условий. Это статусы инструментов, а не внутренние рассуждения модели. В ответе появляются до трёх карточек. Карточка фильма в будущем должна показывать реальный сеанс и язык, а не просто постер. Если нет надёжной афиши, помощник предлагает место для уточнения, но не выдумывает спектакль на сегодня. На слайде пример диалога из интерактивного дизайна. Live-генерацию не считаем подтверждённой этим макетом.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статус:</a:t>
            </a:r>
          </a:p>
          <a:p xmlns:a="http://schemas.openxmlformats.org/drawingml/2006/main">
            <a:r>
              <a:t>design/penpot/previews/28.png и 29.png. Пример диалога.</a:t>
            </a:r>
          </a:p>
          <a:p xmlns:a="http://schemas.openxmlformats.org/drawingml/2006/main">
            <a:r>
              <a:t>Место из snapshot OpenStreetMap, © OpenStreetMap contributors. Иллюстрация категории не является фото театра.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момент этой версии работает поиск и объяснение по правилам. Внешняя модель ещё не подключена. Следующий шаг RAG означает поиск по городской базе с последующим объяснением найденного моделью. Сначала сервис получает реальные записи. Затем код проверяет время, бюджет, дату и допустимость предложения. После подключения модель будет получать небольшой набор разрешённых сведений и формулировать ответ. Она не создаёт цены, координаты или свободные места. Если модель недоступна, результаты поиска остаются доступны с обычным шаблонным объяснением. Этот fallback полезен для надёжности, но не заменяет проверку полноценного live RAG. Мы не передаём модели точные координаты пользователя, когда для объяснения достаточно рассчитанного расстояния.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статус:</a:t>
            </a:r>
          </a:p>
          <a:p xmlns:a="http://schemas.openxmlformats.org/drawingml/2006/main">
            <a:r>
              <a:t>PRD.md, раздел 9. Высокоуровневая проектная схема, не свидетельство live-вызова.</a:t>
            </a:r>
          </a:p>
          <a:p xmlns:a="http://schemas.openxmlformats.org/drawingml/2006/main">
            <a:r>
              <a:t>Задание Smart City требует объяснения POI + генерации без низкоуровневых схем.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Места и события имеют разное происхождение. Для мест уже есть автоматизированный импорт OpenStreetMap и сохранённый набор Астаны. Для событий мы рассматриваем официальные афиши площадок, разрешённые API и данные организаторов. Ticketon, Kino.kz, Sxodim, Visit Astana и сайты театров являются кандидатами до проверки условий и доступа. Доступная страница сама по себе не разрешает копирование фотографий. Частоту обновления задаём отдельно для каждого источника. При ошибке сохраняем последний корректный набор и дату проверки. У формы организатора сейчас есть дизайн локального черновика. Публикация должна проходить проверку, а количество посещений само по себе не даёт права обходить модерацию.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статус:</a:t>
            </a:r>
          </a:p>
          <a:p xmlns:a="http://schemas.openxmlformats.org/drawingml/2006/main">
            <a:r>
              <a:t>data/source-registry.json и docs/DATA_SOURCES.md: окончательный статус каждого источника нужно сверять перед live-подключением.</a:t>
            </a:r>
          </a:p>
          <a:p xmlns:a="http://schemas.openxmlformats.org/drawingml/2006/main">
            <a:r>
              <a:t>design/penpot/previews/36.png: дизайн черновика, не подтверждение модерации/броней.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Профиль содержит явно выбранные интересы и добровольно сохранённую историю, а не скрытые предположения о человеке. Для веб-пилота предусматриваем локальное хранение в браузере. На телефоне нужен отдельный адаптер защищённого хранилища. Его наличие нельзя доказать экраном настройки. Пользователь видит, что сервис помнит, может изменить предпочтения и удалить данные. Геопозиция нужна для конкретного расчёта и не должна попадать в публичную ссылку маршрута. Если цена неизвестна, мы предлагаем уточнить её у организатора. Нет мест пишем только при подтверждении. Сохранение карточки и открытие маршрута не означают бронирование или посещение. Фактическое удаление проверяем отдельно в приложении.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статус:</a:t>
            </a:r>
          </a:p>
          <a:p xmlns:a="http://schemas.openxmlformats.org/drawingml/2006/main">
            <a:r>
              <a:t>design/penpot/previews/45.png: дизайн настроек, включая переход к памяти и приватности.</a:t>
            </a:r>
          </a:p>
          <a:p xmlns:a="http://schemas.openxmlformats.org/drawingml/2006/main">
            <a:r>
              <a:t>PRD.md, раздел 13. Комментарии владельца 9, 10, 13,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Пилот ограничен Астаной. Сейчас есть локальное веб-приложение со свайпами, чатом, OSM-картой и планами. Публичное обновление ещё впереди. Оркестратор подтвердил локальные проверки. Это не подтверждает внешний AI или точный маршрутизатор. Следующие контрольные точки: подтверждённый live RAG, источник актуальной афиши и маршрутизация по дорожной сети. Затем проверяем полезность на добровольных участниках: время до выбранного плана и долю неподходящих рекомендаций. Это план измерения, а не уже полученная метрика. Расширение на Алматы последует после проверки пилота. Возможные модели дохода: инструменты площадкам и комиссия за подтверждённое бронирование. Договоров, выручки и подтверждённой экономики пока не заявляем. Автор проекта Tim Asproyanidi, QETTYQ APP, Qaragandy, Boostseller.kz. Видео и подтверждение подачи заявки относятся к отдельным материалам и этой презентацией не подтверждаются.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статус:</a:t>
            </a:r>
          </a:p>
          <a:p xmlns:a="http://schemas.openxmlformats.org/drawingml/2006/main">
            <a:r>
              <a:t>Контакты и репозиторий предоставил владелец. https://github.com/timyname/QETTYQ</a:t>
            </a:r>
          </a:p>
          <a:p xmlns:a="http://schemas.openxmlformats.org/drawingml/2006/main">
            <a:r>
              <a:t>Состояние отражает проверенные границы на момент подготовки 20.10.2026, не утверждает завершение текущей параллельной разработки.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78cf66abdc42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807124b75e450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5f45c4a1a743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f0e87cd66a43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6c97d9d0f1405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43eeab42704a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F7B599-2C74-4087-818A-1A6F4461E6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8F30552-2ADE-4BBF-9401-4F5749BF72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E121A36-FDD7-45B6-867E-9A9DDFB631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C63178-6E17-43CF-A902-137814488E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EC90C18-FAF4-4CB3-A507-317902392D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9FE41AF-A32F-460D-89B6-76198102D1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3D147A-3F8F-4323-81A3-5016562417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B502457-E2A3-48FE-9EE6-84A60722DE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E05799-D00D-499D-8893-686B0E7530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9E5A28-FE57-4237-BDCB-D86E72B4A9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73c8747aa64b99" /><Relationship Type="http://schemas.openxmlformats.org/officeDocument/2006/relationships/slideLayout" Target="/ppt/slideLayouts/slideLayout1.xml" Id="R21cc400c54f64553" /><Relationship Type="http://schemas.openxmlformats.org/officeDocument/2006/relationships/slideLayout" Target="/ppt/slideLayouts/slideLayout2.xml" Id="R570ff3efe64341ac" /><Relationship Type="http://schemas.openxmlformats.org/officeDocument/2006/relationships/slideLayout" Target="/ppt/slideLayouts/slideLayout3.xml" Id="R392ea8e07d7f476f" /><Relationship Type="http://schemas.openxmlformats.org/officeDocument/2006/relationships/slideLayout" Target="/ppt/slideLayouts/slideLayout4.xml" Id="Rdc28e053d7a84968" /><Relationship Type="http://schemas.openxmlformats.org/officeDocument/2006/relationships/slideLayout" Target="/ppt/slideLayouts/slideLayout5.xml" Id="Rb2db8c3274314471" /><Relationship Type="http://schemas.openxmlformats.org/officeDocument/2006/relationships/slideLayout" Target="/ppt/slideLayouts/slideLayout6.xml" Id="R6be81b3da25346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cc400c54f64553"/>
    <p:sldLayoutId xmlns:r="http://schemas.openxmlformats.org/officeDocument/2006/relationships" id="2147483650" r:id="R570ff3efe64341ac"/>
    <p:sldLayoutId xmlns:r="http://schemas.openxmlformats.org/officeDocument/2006/relationships" id="2147483651" r:id="R392ea8e07d7f476f"/>
    <p:sldLayoutId xmlns:r="http://schemas.openxmlformats.org/officeDocument/2006/relationships" id="2147483652" r:id="Rdc28e053d7a84968"/>
    <p:sldLayoutId xmlns:r="http://schemas.openxmlformats.org/officeDocument/2006/relationships" id="2147483653" r:id="Rb2db8c3274314471"/>
    <p:sldLayoutId xmlns:r="http://schemas.openxmlformats.org/officeDocument/2006/relationships" id="2147483654" r:id="R6be81b3da25346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bb201946b94b9b" /><Relationship Type="http://schemas.openxmlformats.org/officeDocument/2006/relationships/image" Target="/ppt/media/image.png" Id="R4ac77d73433f4777" /><Relationship Type="http://schemas.openxmlformats.org/officeDocument/2006/relationships/notesSlide" Target="/ppt/notesSlides/notesSlide1.xml" Id="Rc74056b3d5df43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bbe6a320bb4735" /><Relationship Type="http://schemas.openxmlformats.org/officeDocument/2006/relationships/notesSlide" Target="/ppt/notesSlides/notesSlide2.xml" Id="Ra9785b4749af48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e6932a330343c5" /><Relationship Type="http://schemas.openxmlformats.org/officeDocument/2006/relationships/image" Target="/ppt/media/image2.png" Id="R08478efbe3774379" /><Relationship Type="http://schemas.openxmlformats.org/officeDocument/2006/relationships/image" Target="/ppt/media/image3.png" Id="R8dc13b1dfada4a15" /><Relationship Type="http://schemas.openxmlformats.org/officeDocument/2006/relationships/notesSlide" Target="/ppt/notesSlides/notesSlide3.xml" Id="Rab9268fdf3cc47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c6ba4917e244c7" /><Relationship Type="http://schemas.openxmlformats.org/officeDocument/2006/relationships/image" Target="/ppt/media/image4.png" Id="R2076f6c6999240bf" /><Relationship Type="http://schemas.openxmlformats.org/officeDocument/2006/relationships/notesSlide" Target="/ppt/notesSlides/notesSlide4.xml" Id="R96045159371d43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d393a5a6764492" /><Relationship Type="http://schemas.openxmlformats.org/officeDocument/2006/relationships/image" Target="/ppt/media/image5.png" Id="R1a6ea0e99f7d467b" /><Relationship Type="http://schemas.openxmlformats.org/officeDocument/2006/relationships/image" Target="/ppt/media/image6.png" Id="R187573fb9b694d1c" /><Relationship Type="http://schemas.openxmlformats.org/officeDocument/2006/relationships/notesSlide" Target="/ppt/notesSlides/notesSlide5.xml" Id="R3bdd1bf088eb4d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9bc305f7b4426c" /><Relationship Type="http://schemas.openxmlformats.org/officeDocument/2006/relationships/image" Target="/ppt/media/image7.png" Id="Raa6c261f45164b34" /><Relationship Type="http://schemas.openxmlformats.org/officeDocument/2006/relationships/image" Target="/ppt/media/image8.png" Id="Rc91efa92810446d6" /><Relationship Type="http://schemas.openxmlformats.org/officeDocument/2006/relationships/notesSlide" Target="/ppt/notesSlides/notesSlide6.xml" Id="R9a31a9dbcecd42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cabf49fb1849b5" /><Relationship Type="http://schemas.openxmlformats.org/officeDocument/2006/relationships/notesSlide" Target="/ppt/notesSlides/notesSlide7.xml" Id="R9c818dc07f514f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ad99aeccf943fc" /><Relationship Type="http://schemas.openxmlformats.org/officeDocument/2006/relationships/image" Target="/ppt/media/image9.png" Id="R5aa5e29a7c574fdc" /><Relationship Type="http://schemas.openxmlformats.org/officeDocument/2006/relationships/notesSlide" Target="/ppt/notesSlides/notesSlide8.xml" Id="Rc722308648044c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a1797ff96f42ef" /><Relationship Type="http://schemas.openxmlformats.org/officeDocument/2006/relationships/image" Target="/ppt/media/image10.png" Id="R29452417dab54cf2" /><Relationship Type="http://schemas.openxmlformats.org/officeDocument/2006/relationships/notesSlide" Target="/ppt/notesSlides/notesSlide9.xml" Id="R4fe69febee6640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e7a8eae76a47ab" /><Relationship Type="http://schemas.openxmlformats.org/officeDocument/2006/relationships/notesSlide" Target="/ppt/notesSlides/notesSlide10.xml" Id="R67c343cee8e54b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30CB94-263C-428E-9FFB-B13D2682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E5D"/>
                </a:solidFill>
                <a:latin typeface="Arial"/>
                <a:ea typeface="Arial"/>
                <a:cs typeface="Arial"/>
              </a:rPr>
              <a:t>QETTYQ 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3F62A-44FE-478E-9DD7-B226B9E6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82D75-F98C-42D5-A006-D7715AE50C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77d73433f4777"/>
          <a:srcRect xmlns:a="http://schemas.openxmlformats.org/drawingml/2006/main" l="33895" t="0" r="338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0"/>
            <a:ext cx="51435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E0B0D-7B19-43D4-AA21-D46A7FA2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0B332D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0B332D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0B332D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0B332D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0B332D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0B332D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0B332D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0B332D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0B332D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0B33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0B332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B332D"/>
                </a:solidFill>
                <a:latin typeface="Arial"/>
                <a:ea typeface="Arial"/>
                <a:cs typeface="Arial"/>
              </a:rPr>
              <a:t>QETTYQ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7FD5D-C8D3-41F8-884A-50E7E0A6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191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7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defPPr>
            <a:lvl1pPr>
              <a:defRPr sz="397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1pPr>
            <a:lvl2pPr>
              <a:defRPr sz="397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2pPr>
            <a:lvl3pPr>
              <a:defRPr sz="397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3pPr>
            <a:lvl4pPr>
              <a:defRPr sz="397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4pPr>
            <a:lvl5pPr>
              <a:defRPr sz="397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5pPr>
            <a:lvl6pPr>
              <a:defRPr sz="397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6pPr>
            <a:lvl7pPr>
              <a:defRPr sz="397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7pPr>
            <a:lvl8pPr>
              <a:defRPr sz="397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8pPr>
            <a:lvl9pPr>
              <a:defRPr sz="397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0B6E5D"/>
                </a:solidFill>
                <a:latin typeface="Arial"/>
                <a:ea typeface="Arial"/>
                <a:cs typeface="Arial"/>
              </a:rPr>
              <a:t>Куда пойти,</a:t>
            </a:r>
          </a:p>
          <a:p xmlns:a="http://schemas.openxmlformats.org/drawingml/2006/main">
            <a:pPr>
              <a:defRPr sz="397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0B6E5D"/>
                </a:solidFill>
                <a:latin typeface="Arial"/>
                <a:ea typeface="Arial"/>
                <a:cs typeface="Arial"/>
              </a:rPr>
              <a:t>когда есть</a:t>
            </a:r>
          </a:p>
          <a:p xmlns:a="http://schemas.openxmlformats.org/drawingml/2006/main">
            <a:pPr>
              <a:defRPr sz="397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0B6E5D"/>
                </a:solidFill>
                <a:latin typeface="Arial"/>
                <a:ea typeface="Arial"/>
                <a:cs typeface="Arial"/>
              </a:rPr>
              <a:t>свободное время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90734-02CC-40CD-92CB-5D5FB6F7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10150"/>
            <a:ext cx="561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Персональные варианты досуга</a:t>
            </a:r>
          </a:p>
          <a:p xmlns:a="http://schemas.openxmlformats.org/drawingml/2006/main">
            <a:pPr>
              <a:defRPr sz="20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по интересам, времени и бюджету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3AC47-677E-4086-944D-E2D23341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1722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Астана. Прототип городского помощника</a:t>
            </a:r>
          </a:p>
        </p:txBody>
      </p:sp>
    </p:spTree>
    <p:extLst>
      <p:ext uri="{BB962C8B-B14F-4D97-AF65-F5344CB8AC3E}">
        <p14:creationId xmlns:p14="http://schemas.microsoft.com/office/powerpoint/2010/main" val="4879078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33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96873-D4C4-4B87-8230-D626C151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FFC55"/>
                </a:solidFill>
                <a:latin typeface="Arial"/>
                <a:ea typeface="Arial"/>
                <a:cs typeface="Arial"/>
              </a:rPr>
              <a:t>QETTYQ 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BEC36-286E-446F-B196-2E9D5C56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1D1C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63627-137E-463A-BF54-F0791071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вечер.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Разные способы его провести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62429-B81B-4D4E-BD5F-6B9788F8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90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1D1CA"/>
                </a:solidFill>
                <a:latin typeface="Arial"/>
                <a:ea typeface="Arial"/>
                <a:cs typeface="Arial"/>
              </a:rPr>
              <a:t>Афиша, карта и бюджет обычно остаются отдельными задачами.</a:t>
            </a:r>
          </a:p>
          <a:p xmlns:a="http://schemas.openxmlformats.org/drawingml/2006/main">
            <a:pPr>
              <a:defRPr sz="21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1D1CA"/>
                </a:solidFill>
                <a:latin typeface="Arial"/>
                <a:ea typeface="Arial"/>
                <a:cs typeface="Arial"/>
              </a:rPr>
              <a:t>QETTYQ собирает их вокруг конкретного человека.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4359F-03F4-42D1-90D1-4788F61E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FFC5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59EE2-BFF3-4578-A4C6-72599FAC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05250"/>
            <a:ext cx="501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Персональная подборка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DD650-9139-40C9-BEB3-14D83CB5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62450"/>
            <a:ext cx="5010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1D1CA"/>
                </a:solidFill>
                <a:latin typeface="Arial"/>
                <a:ea typeface="Arial"/>
                <a:cs typeface="Arial"/>
              </a:rPr>
              <a:t>Сервис учитывает предпочтения и доступное время.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9BB7B-DAF2-4FCA-95FC-C0CC886C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52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FFC5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00599-61DE-42D0-B29A-AF81A9E5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0525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Самостоятельный выбор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95422-774F-4906-9141-0900C2D5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1487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1D1CA"/>
                </a:solidFill>
                <a:latin typeface="Arial"/>
                <a:ea typeface="Arial"/>
                <a:cs typeface="Arial"/>
              </a:rPr>
              <a:t>Карта помогает посмотреть другие варианты поблизости.</a:t>
            </a:r>
          </a:p>
        </p:txBody>
      </p:sp>
    </p:spTree>
    <p:extLst>
      <p:ext uri="{BB962C8B-B14F-4D97-AF65-F5344CB8AC3E}">
        <p14:creationId xmlns:p14="http://schemas.microsoft.com/office/powerpoint/2010/main" val="16760130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70B79-B1F5-47B1-8A19-EE6E8645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E5D"/>
                </a:solidFill>
                <a:latin typeface="Arial"/>
                <a:ea typeface="Arial"/>
                <a:cs typeface="Arial"/>
              </a:rPr>
              <a:t>QETTYQ 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ED2E9-6015-429F-9F36-394EC79F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E2751-0A7A-4302-92CB-12F609FF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Сначала интересы.</a:t>
            </a:r>
          </a:p>
          <a:p xmlns:a="http://schemas.openxmlformats.org/drawingml/2006/main">
            <a: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Потом условия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24894-FDE0-4CFC-9947-3953F6AD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6E5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5B42A5-690E-4132-AFAD-60B4A374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57500"/>
            <a:ext cx="4867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15 карточек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A9912-65DC-46E4-928B-6204E78A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14700"/>
            <a:ext cx="48672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Вправо: интересно. Влево: не сейчас.</a:t>
            </a:r>
          </a:p>
          <a:p xmlns:a="http://schemas.openxmlformats.org/drawingml/2006/main">
            <a: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Последний выбор можно отменить.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D47B0-2356-4C8C-910C-D7587214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6E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9B3E2-E100-41FE-8F86-01C06E0B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4375"/>
            <a:ext cx="4867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Время и бюджет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373E8-0C4A-41CB-851F-00F3E3EB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81575"/>
            <a:ext cx="48672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Геопозиция только с разрешения.</a:t>
            </a:r>
          </a:p>
          <a:p xmlns:a="http://schemas.openxmlformats.org/drawingml/2006/main">
            <a: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Можно указать точку вручную.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F1FB9-FCC0-486B-AA2F-567FCDE4D6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78efbe3774379"/>
          <a:stretch xmlns:a="http://schemas.openxmlformats.org/drawingml/2006/main"/>
        </p:blipFill>
        <p:spPr>
          <a:xfrm xmlns:a="http://schemas.openxmlformats.org/drawingml/2006/main">
            <a:off x="6667500" y="792015"/>
            <a:ext cx="2428875" cy="5264445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DACB4-6B6D-41D5-B8A3-4E70E3ECCE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13b1dfada4a15"/>
          <a:stretch xmlns:a="http://schemas.openxmlformats.org/drawingml/2006/main"/>
        </p:blipFill>
        <p:spPr>
          <a:xfrm xmlns:a="http://schemas.openxmlformats.org/drawingml/2006/main">
            <a:off x="9277350" y="792015"/>
            <a:ext cx="2428875" cy="526444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DFD9A-1E20-4C60-A23D-E9FDEAF7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1626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Новый интерактивный дизайн. Иллюстрации показывают идеи досуга.</a:t>
            </a:r>
          </a:p>
        </p:txBody>
      </p:sp>
    </p:spTree>
    <p:extLst>
      <p:ext uri="{BB962C8B-B14F-4D97-AF65-F5344CB8AC3E}">
        <p14:creationId xmlns:p14="http://schemas.microsoft.com/office/powerpoint/2010/main" val="18728998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06DF3-8A0F-45C2-99F0-2F4860FF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E5D"/>
                </a:solidFill>
                <a:latin typeface="Arial"/>
                <a:ea typeface="Arial"/>
                <a:cs typeface="Arial"/>
              </a:rPr>
              <a:t>QETTYQ 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CDE39-76C4-48E1-82EA-601F1A39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B1260-DE65-4A61-A6BD-5D493892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6143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Подборка,</a:t>
            </a:r>
          </a:p>
          <a:p xmlns:a="http://schemas.openxmlformats.org/drawingml/2006/main">
            <a: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которую можно объяснить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3605C-97F4-4444-923D-9D0BA6E6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0"/>
            <a:ext cx="5476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6E5D"/>
                </a:solidFill>
                <a:latin typeface="Arial"/>
                <a:ea typeface="Arial"/>
                <a:cs typeface="Arial"/>
              </a:rPr>
              <a:t>До трёх вариантов вместо</a:t>
            </a:r>
          </a:p>
          <a:p xmlns:a="http://schemas.openxmlformats.org/drawingml/2006/main">
            <a:pPr>
              <a:defRPr sz="24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6E5D"/>
                </a:solidFill>
                <a:latin typeface="Arial"/>
                <a:ea typeface="Arial"/>
                <a:cs typeface="Arial"/>
              </a:rPr>
              <a:t>длинного списка наугад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F8BA8-0628-438F-AFC2-5FCF83C4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52875"/>
            <a:ext cx="5429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Карточку можно смахнуть, открыть подробнее</a:t>
            </a:r>
          </a:p>
          <a:p xmlns:a="http://schemas.openxmlformats.org/drawingml/2006/main">
            <a: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или посмотреть на карте. Условия подбора</a:t>
            </a:r>
          </a:p>
          <a:p xmlns:a="http://schemas.openxmlformats.org/drawingml/2006/main">
            <a: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всегда доступны сверху.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BEB4C-EA8B-4855-B1B0-73BBB463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00675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Нет цены или расписания?</a:t>
            </a:r>
          </a:p>
          <a:p xmlns:a="http://schemas.openxmlformats.org/drawingml/2006/main">
            <a:pPr>
              <a:defRPr sz="18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Предлагаем уточнить у организатора.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B4B77-4555-41A6-A928-4B648C2C11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6f6c6999240bf"/>
          <a:stretch xmlns:a="http://schemas.openxmlformats.org/drawingml/2006/main"/>
        </p:blipFill>
        <p:spPr>
          <a:xfrm xmlns:a="http://schemas.openxmlformats.org/drawingml/2006/main">
            <a:off x="7639520" y="647700"/>
            <a:ext cx="2627960" cy="5695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F12EE-C9E1-431B-AE3D-A4815B4F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198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Интерактивный дизайн</a:t>
            </a:r>
          </a:p>
        </p:txBody>
      </p:sp>
    </p:spTree>
    <p:extLst>
      <p:ext uri="{BB962C8B-B14F-4D97-AF65-F5344CB8AC3E}">
        <p14:creationId xmlns:p14="http://schemas.microsoft.com/office/powerpoint/2010/main" val="1377116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33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86A4E-5F6B-44EE-AB1B-7FCB4370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FFC55"/>
                </a:solidFill>
                <a:latin typeface="Arial"/>
                <a:ea typeface="Arial"/>
                <a:cs typeface="Arial"/>
              </a:rPr>
              <a:t>QETTYQ 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07321-C1E6-4330-9BEE-7C6A233E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1D1C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ADE08-C4F3-4577-81FE-F4E71C0A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590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Карта и план прогулки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12FE9-7473-4BDF-8B96-B0080AAD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5238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Выбранная точка показывает,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как далеко ехать и сколько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времени останется на досуг.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8DB32-E186-47A2-8C50-EEA95F38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05325"/>
            <a:ext cx="5238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1D1CA"/>
                </a:solidFill>
                <a:latin typeface="Arial"/>
                <a:ea typeface="Arial"/>
                <a:cs typeface="Arial"/>
              </a:rPr>
              <a:t>В расчёт входят дорога, посещение</a:t>
            </a:r>
          </a:p>
          <a:p xmlns:a="http://schemas.openxmlformats.org/drawingml/2006/main">
            <a:pPr>
              <a:defRPr sz="18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1D1CA"/>
                </a:solidFill>
                <a:latin typeface="Arial"/>
                <a:ea typeface="Arial"/>
                <a:cs typeface="Arial"/>
              </a:rPr>
              <a:t>и запас. Неизвестная стоимость</a:t>
            </a:r>
          </a:p>
          <a:p xmlns:a="http://schemas.openxmlformats.org/drawingml/2006/main">
            <a:pPr>
              <a:defRPr sz="18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1D1CA"/>
                </a:solidFill>
                <a:latin typeface="Arial"/>
                <a:ea typeface="Arial"/>
                <a:cs typeface="Arial"/>
              </a:rPr>
              <a:t>не превращается в бесплатный вход.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C00BA-C8F9-4583-AEE6-DEF62B2704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ea0e99f7d467b"/>
          <a:stretch xmlns:a="http://schemas.openxmlformats.org/drawingml/2006/main"/>
        </p:blipFill>
        <p:spPr>
          <a:xfrm xmlns:a="http://schemas.openxmlformats.org/drawingml/2006/main">
            <a:off x="6524625" y="801540"/>
            <a:ext cx="2428875" cy="526444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C29A5-F2E9-4C93-9A87-ACFF9F2E41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573fb9b694d1c"/>
          <a:stretch xmlns:a="http://schemas.openxmlformats.org/drawingml/2006/main"/>
        </p:blipFill>
        <p:spPr>
          <a:xfrm xmlns:a="http://schemas.openxmlformats.org/drawingml/2006/main">
            <a:off x="9153525" y="801540"/>
            <a:ext cx="2428875" cy="526444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B1385-957B-4BA1-9E67-8261761D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191250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1D1CA"/>
                </a:solidFill>
                <a:latin typeface="Arial"/>
                <a:ea typeface="Arial"/>
                <a:cs typeface="Arial"/>
              </a:rPr>
              <a:t>В макетах карта условная. Live-маршрутизация требует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8407343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F794B-4569-4A52-B2A5-7A2ABDC9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E5D"/>
                </a:solidFill>
                <a:latin typeface="Arial"/>
                <a:ea typeface="Arial"/>
                <a:cs typeface="Arial"/>
              </a:rPr>
              <a:t>QETTYQ 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6F2D3-470D-4FAB-931B-36237AD4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7BABC-7CEF-41E6-98AB-1EFF4CD0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6334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Помощник в привычном чате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2D884-EB43-4798-BD04-032DF950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57500"/>
            <a:ext cx="5381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6E5D"/>
                </a:solidFill>
                <a:latin typeface="Arial"/>
                <a:ea typeface="Arial"/>
                <a:cs typeface="Arial"/>
              </a:rPr>
              <a:t>«Хочу в театр. Есть два часа</a:t>
            </a:r>
          </a:p>
          <a:p xmlns:a="http://schemas.openxmlformats.org/drawingml/2006/main">
            <a:pPr>
              <a:defRPr sz="23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6E5D"/>
                </a:solidFill>
                <a:latin typeface="Arial"/>
                <a:ea typeface="Arial"/>
                <a:cs typeface="Arial"/>
              </a:rPr>
              <a:t>и до 5 000 ₸ на человека»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4AA4D-163E-4D59-A9E2-3E8A55EE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67200"/>
            <a:ext cx="5381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Чат уточняет условия и показывает</a:t>
            </a:r>
          </a:p>
          <a:p xmlns:a="http://schemas.openxmlformats.org/drawingml/2006/main">
            <a: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карточку места или события.</a:t>
            </a:r>
          </a:p>
          <a:p xmlns:a="http://schemas.openxmlformats.org/drawingml/2006/main">
            <a: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Из неё доступны детали и карта.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6F3A2-1EB7-4F1F-B9B9-0D833FC0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19750"/>
            <a:ext cx="538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При нехватке данных помощник</a:t>
            </a:r>
          </a:p>
          <a:p xmlns:a="http://schemas.openxmlformats.org/drawingml/2006/main">
            <a:pPr>
              <a:defRPr sz="17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объясняет, что именно неизвестно.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B2946-D127-4391-9E29-A5433F2473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6c261f45164b34"/>
          <a:stretch xmlns:a="http://schemas.openxmlformats.org/drawingml/2006/main"/>
        </p:blipFill>
        <p:spPr>
          <a:xfrm xmlns:a="http://schemas.openxmlformats.org/drawingml/2006/main">
            <a:off x="6705600" y="765057"/>
            <a:ext cx="2352675" cy="5099286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7F2D6-882E-42BD-991C-A9EA7645EF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efa92810446d6"/>
          <a:stretch xmlns:a="http://schemas.openxmlformats.org/drawingml/2006/main"/>
        </p:blipFill>
        <p:spPr>
          <a:xfrm xmlns:a="http://schemas.openxmlformats.org/drawingml/2006/main">
            <a:off x="9248775" y="765057"/>
            <a:ext cx="2352675" cy="509928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CB284-7716-4E9F-AC5B-E0C5D967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115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Пример диалога в дизайне. Live-вызов AI отдельно проверяем.</a:t>
            </a:r>
          </a:p>
        </p:txBody>
      </p:sp>
    </p:spTree>
    <p:extLst>
      <p:ext uri="{BB962C8B-B14F-4D97-AF65-F5344CB8AC3E}">
        <p14:creationId xmlns:p14="http://schemas.microsoft.com/office/powerpoint/2010/main" val="6299671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33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20B3D6-8387-4A74-9030-AEEB2899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FFC55"/>
                </a:solidFill>
                <a:latin typeface="Arial"/>
                <a:ea typeface="Arial"/>
                <a:cs typeface="Arial"/>
              </a:rPr>
              <a:t>QETTYQ 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64186-6FF2-4737-B660-BAFBCEB5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1D1C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AA6A4-0456-4BEC-967B-38C2061F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Следующий шаг: 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80411-77FD-45E4-B05E-D5FA4718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FFC5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7273E-D2C5-4970-8051-346CE7CB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86050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Поиск по городской базе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13E69-ED20-436D-9339-57D76A5D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43250"/>
            <a:ext cx="967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1D1CA"/>
                </a:solidFill>
                <a:latin typeface="Arial"/>
                <a:ea typeface="Arial"/>
                <a:cs typeface="Arial"/>
              </a:rPr>
              <a:t>Подходящие места и события с проверяемыми полями.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A7CF2-839F-4EA3-9F63-3665EB39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FFC5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572FB-7F3E-4924-BC35-F4F80AD5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24300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Проверка условий кодом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F2B73-200A-4977-B51F-F7CDFC8F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81500"/>
            <a:ext cx="967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1D1CA"/>
                </a:solidFill>
                <a:latin typeface="Arial"/>
                <a:ea typeface="Arial"/>
                <a:cs typeface="Arial"/>
              </a:rPr>
              <a:t>Время, бюджет и актуальность ограничивают выдачу.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0E100-5FA9-46CB-9DE6-6CA4FFA8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FFC5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8FBAD-797E-40CD-86FA-6D154E3C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05375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Короткое объяснение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B3CF7-AF2C-493B-BE62-411E27ED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62575"/>
            <a:ext cx="967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1D1CA"/>
                </a:solidFill>
                <a:latin typeface="Arial"/>
                <a:ea typeface="Arial"/>
                <a:cs typeface="Arial"/>
              </a:rPr>
              <a:t>AI будет получать найденные записи и объяснять выбор.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9A62B9-487A-4D75-9475-10ABD511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1D1CA"/>
                </a:solidFill>
                <a:latin typeface="Arial"/>
                <a:ea typeface="Arial"/>
                <a:cs typeface="Arial"/>
              </a:rPr>
              <a:t>Сейчас: поиск и объяснение по правилам. Внешняя модель ещё не подключена.</a:t>
            </a:r>
          </a:p>
        </p:txBody>
      </p:sp>
    </p:spTree>
    <p:extLst>
      <p:ext uri="{BB962C8B-B14F-4D97-AF65-F5344CB8AC3E}">
        <p14:creationId xmlns:p14="http://schemas.microsoft.com/office/powerpoint/2010/main" val="18525206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D22DB-559D-4722-BE4C-D8E0FBF9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E5D"/>
                </a:solidFill>
                <a:latin typeface="Arial"/>
                <a:ea typeface="Arial"/>
                <a:cs typeface="Arial"/>
              </a:rPr>
              <a:t>QETTYQ 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29308-06CE-4720-A100-03378A10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9AA42-B013-450D-848B-0B8113D1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defRPr sz="35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defRPr sz="35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defRPr sz="35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defRPr sz="35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defRPr sz="35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defRPr sz="35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defRPr sz="35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defRPr sz="35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defRPr sz="35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События добавляют</a:t>
            </a:r>
          </a:p>
          <a:p xmlns:a="http://schemas.openxmlformats.org/drawingml/2006/main">
            <a:pPr>
              <a:defRPr sz="35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площадки и организаторы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EA5F0-FE82-40A6-982B-CD3E865D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6E5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2D040-BA9F-40AF-B777-EF8E93A3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71775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Проверенные источники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211E2-4F6F-4B38-A9A2-4D64079D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28975"/>
            <a:ext cx="51530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Официальные афиши, разрешённые API</a:t>
            </a:r>
          </a:p>
          <a:p xmlns:a="http://schemas.openxmlformats.org/drawingml/2006/main">
            <a: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и открытые данные.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D2519-C0A6-4ED2-AAAA-10178AEB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6E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3A1A7-75C3-4CC8-A850-0BEBEFFC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62450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Проверка перед показом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D916D-155B-498A-9B77-31B79742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19650"/>
            <a:ext cx="51530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Дата, адрес, координаты, цена и права</a:t>
            </a:r>
          </a:p>
          <a:p xmlns:a="http://schemas.openxmlformats.org/drawingml/2006/main">
            <a:pPr>
              <a:defRPr sz="165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на изображения. Дубли объединяем.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1589B-9EB9-421F-B590-080508D5CD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5e29a7c574fdc"/>
          <a:stretch xmlns:a="http://schemas.openxmlformats.org/drawingml/2006/main"/>
        </p:blipFill>
        <p:spPr>
          <a:xfrm xmlns:a="http://schemas.openxmlformats.org/drawingml/2006/main">
            <a:off x="7715250" y="705426"/>
            <a:ext cx="2609850" cy="565669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C8A13-14ED-4445-BB86-A75AC821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4198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Дизайн локального черновика</a:t>
            </a:r>
          </a:p>
        </p:txBody>
      </p:sp>
    </p:spTree>
    <p:extLst>
      <p:ext uri="{BB962C8B-B14F-4D97-AF65-F5344CB8AC3E}">
        <p14:creationId xmlns:p14="http://schemas.microsoft.com/office/powerpoint/2010/main" val="15122196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6268C-CD40-4673-B30B-D608155F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E5D"/>
                </a:solidFill>
                <a:latin typeface="Arial"/>
                <a:ea typeface="Arial"/>
                <a:cs typeface="Arial"/>
              </a:rPr>
              <a:t>QETTYQ 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1CCE7-EA9C-4C0D-9E50-63840372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09B8F-D066-40EC-A096-C2E1A66E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Память под контролем</a:t>
            </a:r>
          </a:p>
          <a:p xmlns:a="http://schemas.openxmlformats.org/drawingml/2006/main">
            <a:pPr>
              <a:defRPr sz="36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пользователя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263D6-1F16-4F5E-96E5-91C95F9B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52725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6E5D"/>
                </a:solidFill>
                <a:latin typeface="Arial"/>
                <a:ea typeface="Arial"/>
                <a:cs typeface="Arial"/>
              </a:rPr>
              <a:t>Интересы можно изменить.</a:t>
            </a:r>
          </a:p>
          <a:p xmlns:a="http://schemas.openxmlformats.org/drawingml/2006/main">
            <a:pPr>
              <a:defRPr sz="2175" b="1">
                <a:solidFill>
                  <a:srgbClr val="0B6E5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6E5D"/>
                </a:solidFill>
                <a:latin typeface="Arial"/>
                <a:ea typeface="Arial"/>
                <a:cs typeface="Arial"/>
              </a:rPr>
              <a:t>Диалог и историю можно удалить.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E9F67-1D80-4B28-B00B-F82BFF15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43350"/>
            <a:ext cx="571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Согласие определяет, что сохраняется.</a:t>
            </a:r>
          </a:p>
          <a:p xmlns:a="http://schemas.openxmlformats.org/drawingml/2006/main">
            <a: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Геопозиция нужна для выбранного маршрута,</a:t>
            </a:r>
          </a:p>
          <a:p xmlns:a="http://schemas.openxmlformats.org/drawingml/2006/main">
            <a:pPr>
              <a:defRPr sz="1875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а не для постоянного отслеживания.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6042F-52F0-49EA-8DB8-2CDB8871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2925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Цену и наличие мест уточняем.</a:t>
            </a:r>
          </a:p>
          <a:p xmlns:a="http://schemas.openxmlformats.org/drawingml/2006/main">
            <a:pPr>
              <a:defRPr sz="18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Сохранённый план не означает бронь.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6206C-F774-471C-8484-0337C27E9C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52417dab54cf2"/>
          <a:stretch xmlns:a="http://schemas.openxmlformats.org/drawingml/2006/main"/>
        </p:blipFill>
        <p:spPr>
          <a:xfrm xmlns:a="http://schemas.openxmlformats.org/drawingml/2006/main">
            <a:off x="7762977" y="666750"/>
            <a:ext cx="2619171" cy="5676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85D17-7792-4ACC-98C6-78C61CA7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4198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716B"/>
                </a:solidFill>
                <a:latin typeface="Arial"/>
                <a:ea typeface="Arial"/>
                <a:cs typeface="Arial"/>
              </a:rPr>
              <a:t>Макет настроек и приватности</a:t>
            </a:r>
          </a:p>
        </p:txBody>
      </p:sp>
    </p:spTree>
    <p:extLst>
      <p:ext uri="{BB962C8B-B14F-4D97-AF65-F5344CB8AC3E}">
        <p14:creationId xmlns:p14="http://schemas.microsoft.com/office/powerpoint/2010/main" val="2897321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33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98D6D-86C3-4195-80C1-7129B78F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FFC55"/>
                </a:solidFill>
                <a:latin typeface="Arial"/>
                <a:ea typeface="Arial"/>
                <a:cs typeface="Arial"/>
              </a:rPr>
              <a:t>QETTYQ 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B4B1E-EACF-46AA-AD5E-269A0F87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1D1C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2CE85-1525-4379-8B1D-667C2D05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Пилот начинается с Астаны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66517-42AE-444A-9391-C7EDB856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574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FFC55"/>
                </a:solidFill>
                <a:latin typeface="Arial"/>
                <a:ea typeface="Arial"/>
                <a:cs typeface="Arial"/>
              </a:rPr>
              <a:t>Сейчас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C56E4-ED7F-4721-97FB-A4ACD0BA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004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Локальный web app: свайпы, чат,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OSM-карта и планы.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Публичное обновление ещё впереди.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C9A38-111C-4FF7-BAF5-8A7DEB79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574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CFFC5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FFC55"/>
                </a:solidFill>
                <a:latin typeface="Arial"/>
                <a:ea typeface="Arial"/>
                <a:cs typeface="Arial"/>
              </a:rPr>
              <a:t>Следующая проверка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9246A-77C0-4FD5-9B5A-13823363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004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Живой RAG, актуальная афиша,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маршруты по улицам.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После проверки пилота: Алматы.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A6DDE-777A-44DA-83BC-21252FC9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625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1D1CA"/>
                </a:solidFill>
                <a:latin typeface="Arial"/>
                <a:ea typeface="Arial"/>
                <a:cs typeface="Arial"/>
              </a:rPr>
              <a:t>Бизнес-гипотеза: инструменты для площадок</a:t>
            </a:r>
          </a:p>
          <a:p xmlns:a="http://schemas.openxmlformats.org/drawingml/2006/main">
            <a:pPr>
              <a:defRPr sz="180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1D1CA"/>
                </a:solidFill>
                <a:latin typeface="Arial"/>
                <a:ea typeface="Arial"/>
                <a:cs typeface="Arial"/>
              </a:rPr>
              <a:t>и комиссия за подтверждённое бронирование.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8CC72-3DDF-40BA-8D53-55386D20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340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Tim Asproyanidi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9BEF2-6157-46DD-BDB9-4CE1BA40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1531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1D1CA"/>
                </a:solidFill>
                <a:latin typeface="Arial"/>
                <a:ea typeface="Arial"/>
                <a:cs typeface="Arial"/>
              </a:rPr>
              <a:t>Qaragandy   Boostseller.kz   +7 777 836 85 76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10B17-380F-4C70-B353-617A8614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153150"/>
            <a:ext cx="3762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1D1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1D1CA"/>
                </a:solidFill>
                <a:latin typeface="Arial"/>
                <a:ea typeface="Arial"/>
                <a:cs typeface="Arial"/>
              </a:rPr>
              <a:t>github.com/timyname/QETTYQ</a:t>
            </a:r>
          </a:p>
        </p:txBody>
      </p:sp>
    </p:spTree>
    <p:extLst>
      <p:ext uri="{BB962C8B-B14F-4D97-AF65-F5344CB8AC3E}">
        <p14:creationId xmlns:p14="http://schemas.microsoft.com/office/powerpoint/2010/main" val="12135459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2026-10-20T10:42:21.2960000Z</dcterms:created>
  <dcterms:modified xsi:type="dcterms:W3CDTF">2026-10-20T10:42:21.2960000Z</dcterms:modified>
</coreProperties>
</file>